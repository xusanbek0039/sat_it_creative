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1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92640" y="822960"/>
            <a:ext cx="5120640" cy="5120640"/>
          </a:xfrm>
          <a:prstGeom prst="ellipse">
            <a:avLst/>
          </a:prstGeom>
          <a:solidFill>
            <a:srgbClr val="3D4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424160" y="1554480"/>
            <a:ext cx="3657600" cy="3657600"/>
          </a:xfrm>
          <a:prstGeom prst="ellipse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411480"/>
            <a:ext cx="2057400" cy="103591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502920"/>
            <a:ext cx="1874519" cy="8530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2148840"/>
            <a:ext cx="7863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9BB01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514600"/>
            <a:ext cx="8595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2B2B2E"/>
                </a:solidFill>
                <a:latin typeface="Calibri"/>
              </a:rPr>
              <a:t>DARS 69 / 104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971800"/>
            <a:ext cx="969264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2B2B2E"/>
                </a:solidFill>
                <a:latin typeface="Calibri"/>
              </a:rPr>
              <a:t>Bir o'zgaruvchili ma'lumot — markaziy o'lchovlar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434840"/>
            <a:ext cx="9875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9BB01"/>
                </a:solidFill>
                <a:latin typeface="Calibri"/>
              </a:rPr>
              <a:t>23-hafta   •   2-bosqich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983480"/>
            <a:ext cx="2194560" cy="54864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5166360"/>
            <a:ext cx="996696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2B2B2E"/>
                </a:solidFill>
                <a:latin typeface="Calibri"/>
              </a:rPr>
              <a:t>Bu darsda siz bir o'zgaruvchili ma'lumotlarni o'rtacha, median, moda va tarqalma orqali tahlil qilishni o'rganasiz.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3D4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Dars maqsadi va reja — Bir o'zgaruvchili ma'lumot — markaziy o'lchovlar</a:t>
            </a:r>
          </a:p>
        </p:txBody>
      </p:sp>
      <p:sp>
        <p:nvSpPr>
          <p:cNvPr id="6" name="Oval 5"/>
          <p:cNvSpPr/>
          <p:nvPr/>
        </p:nvSpPr>
        <p:spPr>
          <a:xfrm>
            <a:off x="11338560" y="5852160"/>
            <a:ext cx="1828800" cy="1828800"/>
          </a:xfrm>
          <a:prstGeom prst="ellipse">
            <a:avLst/>
          </a:prstGeom>
          <a:solidFill>
            <a:srgbClr val="3D4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3D4B5C"/>
                </a:solidFill>
                <a:latin typeface="Calibri"/>
              </a:rPr>
              <a:t>O'QUV NATIJASI: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00200"/>
            <a:ext cx="52120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F9BB01"/>
                </a:solidFill>
                <a:latin typeface="Calibri"/>
              </a:rPr>
              <a:t>●  </a:t>
            </a:r>
            <a:r>
              <a:rPr sz="1400" b="0">
                <a:solidFill>
                  <a:srgbClr val="333333"/>
                </a:solidFill>
                <a:latin typeface="Calibri"/>
              </a:rPr>
              <a:t>O'rtacha, median va modani to'g'ri hisoblaydi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F9BB01"/>
                </a:solidFill>
                <a:latin typeface="Calibri"/>
              </a:rPr>
              <a:t>●  </a:t>
            </a:r>
            <a:r>
              <a:rPr sz="1400" b="0">
                <a:solidFill>
                  <a:srgbClr val="333333"/>
                </a:solidFill>
                <a:latin typeface="Calibri"/>
              </a:rPr>
              <a:t>Tarqalma va standart og'ishni tushunadi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F9BB01"/>
                </a:solidFill>
                <a:latin typeface="Calibri"/>
              </a:rPr>
              <a:t>●  </a:t>
            </a:r>
            <a:r>
              <a:rPr sz="1400" b="0">
                <a:solidFill>
                  <a:srgbClr val="333333"/>
                </a:solidFill>
                <a:latin typeface="Calibri"/>
              </a:rPr>
              <a:t>Outlier'larning markaziy o'lchovlarga ta'sirini baholaydi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1234440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3D4B5C"/>
                </a:solidFill>
                <a:latin typeface="Calibri"/>
              </a:rPr>
              <a:t>DARS REJASI: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1600200"/>
            <a:ext cx="53492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F9BB01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1. O'rtacha, median, moda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F9BB01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2. Tarqalma va standart og'ish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F9BB01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3. Outlier ta'siri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F9BB01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4. Ma'lumotlar to'plamlarini taqqoslash</a:t>
            </a:r>
          </a:p>
        </p:txBody>
      </p:sp>
      <p:pic>
        <p:nvPicPr>
          <p:cNvPr id="11" name="Picture 10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69/104  •  Bir o'zgaruvchili ma'lumot — markaziy o'lchovlar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3D4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O'rtacha, median, moda</a:t>
            </a:r>
          </a:p>
        </p:txBody>
      </p:sp>
      <p:sp>
        <p:nvSpPr>
          <p:cNvPr id="6" name="Oval 5"/>
          <p:cNvSpPr/>
          <p:nvPr/>
        </p:nvSpPr>
        <p:spPr>
          <a:xfrm>
            <a:off x="11338560" y="5852160"/>
            <a:ext cx="1828800" cy="1828800"/>
          </a:xfrm>
          <a:prstGeom prst="ellipse">
            <a:avLst/>
          </a:prstGeom>
          <a:solidFill>
            <a:srgbClr val="3D4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3D4B5C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O'rtacha (mean) — barcha qiymatlarning yig'indisini ularning soniga bo'lish orqali topiladi.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3D4B5C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Median — ma'lumotlarni tartiblab, eng o'rtadagi qiymat (yoki ikki o'rtadagi qiymat o'rtachasi).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3D4B5C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Moda — ma'lumotlar to'plamida ENG KO'P takrorlangan qiymat (bo'lmasligi yoki bir nechta bo'lishi mumkin).</a:t>
            </a:r>
          </a:p>
        </p:txBody>
      </p:sp>
      <p:pic>
        <p:nvPicPr>
          <p:cNvPr id="8" name="Picture 7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69/104  •  Bir o'zgaruvchili ma'lumot — markaziy o'lchovlar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3D4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Tarqalma va standart og'ish</a:t>
            </a:r>
          </a:p>
        </p:txBody>
      </p:sp>
      <p:sp>
        <p:nvSpPr>
          <p:cNvPr id="6" name="Oval 5"/>
          <p:cNvSpPr/>
          <p:nvPr/>
        </p:nvSpPr>
        <p:spPr>
          <a:xfrm>
            <a:off x="11338560" y="5852160"/>
            <a:ext cx="1828800" cy="1828800"/>
          </a:xfrm>
          <a:prstGeom prst="ellipse">
            <a:avLst/>
          </a:prstGeom>
          <a:solidFill>
            <a:srgbClr val="3D4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3D4B5C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Tarqalma (range) — eng katta va eng kichik qiymat orasidagi farq, ma'lumotning 'kengligini' ko'rsatadi.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3D4B5C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Standart og'ish (standard deviation) — qiymatlarning o'rtachadan qancha 'tarqalganini' o'lchaydi.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3D4B5C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Standart og'ish KATTA bo'lsa — ma'lumotlar ko'p tarqalgan; KICHIK bo'lsa — ma'lumotlar o'rtacha atrofida zich joylashgan.</a:t>
            </a:r>
          </a:p>
        </p:txBody>
      </p:sp>
      <p:pic>
        <p:nvPicPr>
          <p:cNvPr id="8" name="Picture 7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69/104  •  Bir o'zgaruvchili ma'lumot — markaziy o'lchovlar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3D4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Outlier ta'siri</a:t>
            </a:r>
          </a:p>
        </p:txBody>
      </p:sp>
      <p:sp>
        <p:nvSpPr>
          <p:cNvPr id="6" name="Oval 5"/>
          <p:cNvSpPr/>
          <p:nvPr/>
        </p:nvSpPr>
        <p:spPr>
          <a:xfrm>
            <a:off x="11338560" y="5852160"/>
            <a:ext cx="1828800" cy="1828800"/>
          </a:xfrm>
          <a:prstGeom prst="ellipse">
            <a:avLst/>
          </a:prstGeom>
          <a:solidFill>
            <a:srgbClr val="3D4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3D4B5C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Outlier — boshqa ma'lumotlardan SEZILARLI darajada farq qiladigan qiymat.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3D4B5C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O'rtacha — outlier'ga JUDA SEZGIR (bir katta/kichik qiymat o'rtachani sezilarli o'zgartiradi).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3D4B5C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Median — outlier'ga ANCHA CHIDAMLI, shuning uchun assimetrik ma'lumotlarda median ko'proq ishonchli ko'rsatkich.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623560"/>
            <a:ext cx="10881360" cy="566928"/>
          </a:xfrm>
          <a:prstGeom prst="rect">
            <a:avLst/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5650992"/>
            <a:ext cx="106070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1">
                <a:solidFill>
                  <a:srgbClr val="3D4B5C"/>
                </a:solidFill>
                <a:latin typeface="Calibri"/>
              </a:rPr>
              <a:t>Eslatma: agar savol 'qaysi o'lchov outlier'dan kam ta'sirlanadi' deb so'rasa, javob deyarli har doim MEDIAN bo'ladi.</a:t>
            </a:r>
          </a:p>
        </p:txBody>
      </p:sp>
      <p:pic>
        <p:nvPicPr>
          <p:cNvPr id="10" name="Picture 9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69/104  •  Bir o'zgaruvchili ma'lumot — markaziy o'lchovlar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3D4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Ma'lumotlar to'plamlarini taqqoslash</a:t>
            </a:r>
          </a:p>
        </p:txBody>
      </p:sp>
      <p:sp>
        <p:nvSpPr>
          <p:cNvPr id="6" name="Oval 5"/>
          <p:cNvSpPr/>
          <p:nvPr/>
        </p:nvSpPr>
        <p:spPr>
          <a:xfrm>
            <a:off x="11338560" y="5852160"/>
            <a:ext cx="1828800" cy="1828800"/>
          </a:xfrm>
          <a:prstGeom prst="ellipse">
            <a:avLst/>
          </a:prstGeom>
          <a:solidFill>
            <a:srgbClr val="3D4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3D4B5C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Ikki to'plamni taqqoslashda, avval markaziy o'lchovlarni (o'rtacha/median), so'ng tarqalmani solishtirish kerak.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3D4B5C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Bir xil o'rtachaga ega ikki to'plam turli standart og'ishga ega bo'lishi mumkin — bu ularning 'izchilligi' farqini bildiradi.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3D4B5C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Jadval yoki grafik (dot plot, histogram) orqali berilgan ma'lumotlarni vizual taqqoslash ko'nikmasi muhim.</a:t>
            </a:r>
          </a:p>
        </p:txBody>
      </p:sp>
      <p:pic>
        <p:nvPicPr>
          <p:cNvPr id="8" name="Picture 7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69/104  •  Bir o'zgaruvchili ma'lumot — markaziy o'lchovlar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3D4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Amaliyot va namunaviy misol</a:t>
            </a:r>
          </a:p>
        </p:txBody>
      </p:sp>
      <p:sp>
        <p:nvSpPr>
          <p:cNvPr id="6" name="Oval 5"/>
          <p:cNvSpPr/>
          <p:nvPr/>
        </p:nvSpPr>
        <p:spPr>
          <a:xfrm>
            <a:off x="11338560" y="5852160"/>
            <a:ext cx="1828800" cy="1828800"/>
          </a:xfrm>
          <a:prstGeom prst="ellipse">
            <a:avLst/>
          </a:prstGeom>
          <a:solidFill>
            <a:srgbClr val="3D4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188720"/>
            <a:ext cx="10881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3D4B5C"/>
                </a:solidFill>
                <a:latin typeface="Calibri"/>
              </a:rPr>
              <a:t>SAVOL: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8132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B2B2E"/>
                </a:solidFill>
                <a:latin typeface="Calibri"/>
              </a:rPr>
              <a:t>Ma'lumotlar: 4, 6, 6, 8, 50. O'rtacha va medianni toping, qaysi biri outlier'ga ko'proq ta'sirlangan?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331720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3D4B5C"/>
                </a:solidFill>
                <a:latin typeface="Calibri"/>
              </a:rPr>
              <a:t>YECHIM QADAMLARI: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651760"/>
            <a:ext cx="53492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F9BB01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O'rtacha: (4+6+6+8+50)/5 = 74/5 = 14.8.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F9BB01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Median (tartiblangan: 4,6,6,8,50) — o'rtadagi qiymat: 6.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F9BB01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O'rtacha (14.8) outlier (50) tomonidan ancha 'tortilgan', median (6) ko'proq ishonchli markaziy ko'rsatkich.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2331720"/>
            <a:ext cx="5257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3D4B5C"/>
                </a:solidFill>
                <a:latin typeface="Calibri"/>
              </a:rPr>
              <a:t>DARSDA AMALIYOT: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2651760"/>
            <a:ext cx="53492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F9BB01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10 ta ma'lumotlar to'plamida o'rtacha, median, modani hisoblash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F9BB01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8 ta savolda outlier ta'sirini baholash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F9BB01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5 ta ikki to'plamni standart og'ish orqali taqqoslash</a:t>
            </a:r>
          </a:p>
        </p:txBody>
      </p:sp>
      <p:pic>
        <p:nvPicPr>
          <p:cNvPr id="13" name="Picture 12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69/104  •  Bir o'zgaruvchili ma'lumot — markaziy o'lchovlar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3D4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Xulosa va uy vazifasi</a:t>
            </a:r>
          </a:p>
        </p:txBody>
      </p:sp>
      <p:sp>
        <p:nvSpPr>
          <p:cNvPr id="6" name="Oval 5"/>
          <p:cNvSpPr/>
          <p:nvPr/>
        </p:nvSpPr>
        <p:spPr>
          <a:xfrm>
            <a:off x="11338560" y="5852160"/>
            <a:ext cx="1828800" cy="1828800"/>
          </a:xfrm>
          <a:prstGeom prst="ellipse">
            <a:avLst/>
          </a:prstGeom>
          <a:solidFill>
            <a:srgbClr val="3D4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5120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3D4B5C"/>
                </a:solidFill>
                <a:latin typeface="Calibri"/>
              </a:rPr>
              <a:t>ASOSIY XULOSALAR: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00200"/>
            <a:ext cx="52578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F9BB01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O'rtacha, median, moda — markaziy tendensiyaning uch xil o'lchovi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F9BB01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Standart og'ish — ma'lumotning o'rtachadan tarqalish darajasi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F9BB01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Median — outlier'ga chidamli, o'rtacha — sezgir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1234440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3D4B5C"/>
                </a:solidFill>
                <a:latin typeface="Calibri"/>
              </a:rPr>
              <a:t>UY VAZIFASI: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1600200"/>
            <a:ext cx="53492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F9BB01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15 ta ma'lumotlar to'plamida markaziy o'lchovlarni hisoblash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F9BB01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5 ta savolda outlier qo'shilganda o'rtacha qanday o'zgarishini hisoblash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F9BB01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3 ta to'plamni standart og'ish orqali taqqoslash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5989320"/>
            <a:ext cx="12191695" cy="86868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144768"/>
            <a:ext cx="110642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666666"/>
                </a:solidFill>
                <a:latin typeface="Calibri"/>
              </a:rPr>
              <a:t>«IT Shaharcha» — Yoshlar Axborot Texnologiyalari Markazi</a:t>
            </a:r>
          </a:p>
        </p:txBody>
      </p:sp>
      <p:pic>
        <p:nvPicPr>
          <p:cNvPr id="13" name="Picture 12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0055" y="6080760"/>
            <a:ext cx="1280160" cy="58256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