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D02C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D02C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D02C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990527" y="0"/>
            <a:ext cx="201168" cy="6858000"/>
          </a:xfrm>
          <a:prstGeom prst="rect">
            <a:avLst/>
          </a:prstGeom>
          <a:solidFill>
            <a:srgbClr val="D02C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7200" y="411480"/>
            <a:ext cx="2057400" cy="1035916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502920"/>
            <a:ext cx="1874519" cy="85303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94360" y="2148840"/>
            <a:ext cx="78638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434242"/>
                </a:solidFill>
                <a:latin typeface="Calibri"/>
              </a:rPr>
              <a:t>«IT SHAHARCHA» — SAT TAYYORLOV DASTURI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514600"/>
            <a:ext cx="85953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2B2B2E"/>
                </a:solidFill>
                <a:latin typeface="Calibri"/>
              </a:rPr>
              <a:t>DARS 91 / 104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971800"/>
            <a:ext cx="969264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 i="0">
                <a:solidFill>
                  <a:srgbClr val="2B2B2E"/>
                </a:solidFill>
                <a:latin typeface="Calibri"/>
              </a:rPr>
              <a:t>RW vaqt va chidamlilik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4434840"/>
            <a:ext cx="9875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434242"/>
                </a:solidFill>
                <a:latin typeface="Calibri"/>
              </a:rPr>
              <a:t>30-hafta   •   3-bosqich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4983480"/>
            <a:ext cx="2194560" cy="54864"/>
          </a:xfrm>
          <a:prstGeom prst="rect">
            <a:avLst/>
          </a:prstGeom>
          <a:solidFill>
            <a:srgbClr val="4342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5166360"/>
            <a:ext cx="996696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2B2B2E"/>
                </a:solidFill>
                <a:latin typeface="Calibri"/>
              </a:rPr>
              <a:t>Bu darsda siz RW bo'limida vaqtni boshqarish va charchoq sharoitida barqaror ishlash strategiyalarini mustahkamlaysiz.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D02C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64008"/>
          </a:xfrm>
          <a:prstGeom prst="rect">
            <a:avLst/>
          </a:prstGeom>
          <a:solidFill>
            <a:srgbClr val="4342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«IT Shaharcha» — SAT Tayyorlov Dasturi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Calibri"/>
              </a:rPr>
              <a:t>Dars maqsadi va reja — RW vaqt va chidamlilik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02C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D02C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D02C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2081967" y="0"/>
            <a:ext cx="109728" cy="6858000"/>
          </a:xfrm>
          <a:prstGeom prst="rect">
            <a:avLst/>
          </a:prstGeom>
          <a:solidFill>
            <a:srgbClr val="D02C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1234440"/>
            <a:ext cx="5120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D02C45"/>
                </a:solidFill>
                <a:latin typeface="Calibri"/>
              </a:rPr>
              <a:t>O'QUV NATIJASI: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1600200"/>
            <a:ext cx="52120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434242"/>
                </a:solidFill>
                <a:latin typeface="Calibri"/>
              </a:rPr>
              <a:t>●  </a:t>
            </a:r>
            <a:r>
              <a:rPr sz="1400" b="0">
                <a:solidFill>
                  <a:srgbClr val="333333"/>
                </a:solidFill>
                <a:latin typeface="Calibri"/>
              </a:rPr>
              <a:t>Pacing (tezlik) strategiyalarini izchil qo'llaydi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434242"/>
                </a:solidFill>
                <a:latin typeface="Calibri"/>
              </a:rPr>
              <a:t>●  </a:t>
            </a:r>
            <a:r>
              <a:rPr sz="1400" b="0">
                <a:solidFill>
                  <a:srgbClr val="333333"/>
                </a:solidFill>
                <a:latin typeface="Calibri"/>
              </a:rPr>
              <a:t>Charchoq sezilganda diqqatni qayta jamlash texnikalarini biladi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434242"/>
                </a:solidFill>
                <a:latin typeface="Calibri"/>
              </a:rPr>
              <a:t>●  </a:t>
            </a:r>
            <a:r>
              <a:rPr sz="1400" b="0">
                <a:solidFill>
                  <a:srgbClr val="333333"/>
                </a:solidFill>
                <a:latin typeface="Calibri"/>
              </a:rPr>
              <a:t>Timed RW drill'ni yuqori aniqlik bilan yakunlaydi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63640" y="1234440"/>
            <a:ext cx="5212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D02C45"/>
                </a:solidFill>
                <a:latin typeface="Calibri"/>
              </a:rPr>
              <a:t>DARS REJASI: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63640" y="1600200"/>
            <a:ext cx="53492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350" b="1">
                <a:solidFill>
                  <a:srgbClr val="434242"/>
                </a:solidFill>
                <a:latin typeface="Calibri"/>
              </a:rPr>
              <a:t>●  </a:t>
            </a:r>
            <a:r>
              <a:rPr sz="1350" b="0">
                <a:solidFill>
                  <a:srgbClr val="333333"/>
                </a:solidFill>
                <a:latin typeface="Calibri"/>
              </a:rPr>
              <a:t>1. Pacing strategiyalari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350" b="1">
                <a:solidFill>
                  <a:srgbClr val="434242"/>
                </a:solidFill>
                <a:latin typeface="Calibri"/>
              </a:rPr>
              <a:t>●  </a:t>
            </a:r>
            <a:r>
              <a:rPr sz="1350" b="0">
                <a:solidFill>
                  <a:srgbClr val="333333"/>
                </a:solidFill>
                <a:latin typeface="Calibri"/>
              </a:rPr>
              <a:t>2. Og'ir savollarni belgilab o'tish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350" b="1">
                <a:solidFill>
                  <a:srgbClr val="434242"/>
                </a:solidFill>
                <a:latin typeface="Calibri"/>
              </a:rPr>
              <a:t>●  </a:t>
            </a:r>
            <a:r>
              <a:rPr sz="1350" b="0">
                <a:solidFill>
                  <a:srgbClr val="333333"/>
                </a:solidFill>
                <a:latin typeface="Calibri"/>
              </a:rPr>
              <a:t>3. Charchoqni boshqarish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350" b="1">
                <a:solidFill>
                  <a:srgbClr val="434242"/>
                </a:solidFill>
                <a:latin typeface="Calibri"/>
              </a:rPr>
              <a:t>●  </a:t>
            </a:r>
            <a:r>
              <a:rPr sz="1350" b="0">
                <a:solidFill>
                  <a:srgbClr val="333333"/>
                </a:solidFill>
                <a:latin typeface="Calibri"/>
              </a:rPr>
              <a:t>4. Timed drill maqsadi</a:t>
            </a:r>
          </a:p>
        </p:txBody>
      </p:sp>
      <p:pic>
        <p:nvPicPr>
          <p:cNvPr id="14" name="Picture 13" descr="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8615" y="6291072"/>
            <a:ext cx="1417320" cy="644979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9A9A9A"/>
                </a:solidFill>
                <a:latin typeface="Calibri"/>
              </a:rPr>
              <a:t>Dars 91/104  •  RW vaqt va chidamlilik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D02C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64008"/>
          </a:xfrm>
          <a:prstGeom prst="rect">
            <a:avLst/>
          </a:prstGeom>
          <a:solidFill>
            <a:srgbClr val="4342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«IT Shaharcha» — SAT Tayyorlov Dasturi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Calibri"/>
              </a:rPr>
              <a:t>Pacing strategiyalari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02C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D02C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D02C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2081967" y="0"/>
            <a:ext cx="109728" cy="6858000"/>
          </a:xfrm>
          <a:prstGeom prst="rect">
            <a:avLst/>
          </a:prstGeom>
          <a:solidFill>
            <a:srgbClr val="D02C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1234440"/>
            <a:ext cx="10881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D02C45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Har 9 savoldan keyin (modul 1/3 qismida), o'tgan vaqtni tekshirib, rejadan orqada/oldinda ekanini baholash foydali.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D02C45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Agar rejadan orqada qolinsa, qolgan savollarni tezroq, lekin diqqatni yo'qotmasdan yechish kerak.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D02C45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Doimiy, BARQAROR tezlik — savol oxirida shoshilishdan ko'ra samaraliroq natija beradi.</a:t>
            </a:r>
          </a:p>
        </p:txBody>
      </p:sp>
      <p:pic>
        <p:nvPicPr>
          <p:cNvPr id="11" name="Picture 10" descr="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8615" y="6291072"/>
            <a:ext cx="1417320" cy="644979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9A9A9A"/>
                </a:solidFill>
                <a:latin typeface="Calibri"/>
              </a:rPr>
              <a:t>Dars 91/104  •  RW vaqt va chidamlilik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D02C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64008"/>
          </a:xfrm>
          <a:prstGeom prst="rect">
            <a:avLst/>
          </a:prstGeom>
          <a:solidFill>
            <a:srgbClr val="4342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«IT Shaharcha» — SAT Tayyorlov Dasturi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Calibri"/>
              </a:rPr>
              <a:t>Og'ir savollarni belgilab o'tish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02C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D02C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D02C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2081967" y="0"/>
            <a:ext cx="109728" cy="6858000"/>
          </a:xfrm>
          <a:prstGeom prst="rect">
            <a:avLst/>
          </a:prstGeom>
          <a:solidFill>
            <a:srgbClr val="D02C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1234440"/>
            <a:ext cx="10881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D02C45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Agar savol 70-80 soniyadan ko'proq vaqt olayotgan bo'lsa, eng yaxshi taxminni belgilab, 'Mark for Review' qilib o'tish kerak.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D02C45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Bu qaror — qolgan savollarga YETIB BORISH ehtimolini his-tuyg'udan ko'ra MANTIQ bilan ustun qo'yadi.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D02C45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Modul oxirida vaqt qolsa, belgilangan savollarga ENG OSONIDAN boshlab qaytish strategik.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4360" y="5623560"/>
            <a:ext cx="10881360" cy="566928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5650992"/>
            <a:ext cx="1060704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1">
                <a:solidFill>
                  <a:srgbClr val="D02C45"/>
                </a:solidFill>
                <a:latin typeface="Calibri"/>
              </a:rPr>
              <a:t>Eslatma: bir savolga 'qarz bo'lib qolish' — undan keyingi 3-4 savolga zarar etkazadi, shuning uchun vaqtida 'tashlab o'tish' qarori muhim ko'nikma.</a:t>
            </a:r>
          </a:p>
        </p:txBody>
      </p:sp>
      <p:pic>
        <p:nvPicPr>
          <p:cNvPr id="13" name="Picture 12" descr="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8615" y="6291072"/>
            <a:ext cx="1417320" cy="644979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9A9A9A"/>
                </a:solidFill>
                <a:latin typeface="Calibri"/>
              </a:rPr>
              <a:t>Dars 91/104  •  RW vaqt va chidamlilik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D02C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64008"/>
          </a:xfrm>
          <a:prstGeom prst="rect">
            <a:avLst/>
          </a:prstGeom>
          <a:solidFill>
            <a:srgbClr val="4342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«IT Shaharcha» — SAT Tayyorlov Dasturi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Calibri"/>
              </a:rPr>
              <a:t>Charchoqni boshqarish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02C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D02C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D02C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2081967" y="0"/>
            <a:ext cx="109728" cy="6858000"/>
          </a:xfrm>
          <a:prstGeom prst="rect">
            <a:avLst/>
          </a:prstGeom>
          <a:solidFill>
            <a:srgbClr val="D02C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1234440"/>
            <a:ext cx="10881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D02C45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Charchoq sezilganda, 2-3 soniyalik chuqur nafas olish va ko'zni qisqa yumish diqqatni tiniqlashtirishga yordam beradi.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D02C45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O'zini 'his qilish' emas, balki QOIDA va STRATEGIYAGA tayanish — charchagan paytda xatoni kamaytiradi.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D02C45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Modul oxiriga yaqin, savol matnini SEKINROQ, lekin DIQQAT bilan o'qish — charchoqdan kelib chiqadigan careless xatolarni kamaytiradi.</a:t>
            </a:r>
          </a:p>
        </p:txBody>
      </p:sp>
      <p:pic>
        <p:nvPicPr>
          <p:cNvPr id="11" name="Picture 10" descr="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8615" y="6291072"/>
            <a:ext cx="1417320" cy="644979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9A9A9A"/>
                </a:solidFill>
                <a:latin typeface="Calibri"/>
              </a:rPr>
              <a:t>Dars 91/104  •  RW vaqt va chidamlilik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D02C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64008"/>
          </a:xfrm>
          <a:prstGeom prst="rect">
            <a:avLst/>
          </a:prstGeom>
          <a:solidFill>
            <a:srgbClr val="4342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«IT Shaharcha» — SAT Tayyorlov Dasturi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Calibri"/>
              </a:rPr>
              <a:t>Timed drill maqsadi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02C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D02C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D02C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2081967" y="0"/>
            <a:ext cx="109728" cy="6858000"/>
          </a:xfrm>
          <a:prstGeom prst="rect">
            <a:avLst/>
          </a:prstGeom>
          <a:solidFill>
            <a:srgbClr val="D02C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1234440"/>
            <a:ext cx="10881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D02C45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Bu darsdagi drill — aynan REAL modul uzunligi va vaqtida (27 savol/32 daqiqa) o'tkaziladi.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D02C45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Maqsad — vaqt bosimi ostida ham aniqlikni saqlab qolish ko'nikmasini mustahkamlash.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D02C45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Natija — qolgan to'liq testlar (93-94-dars) uchun ishonchni oshiradi.</a:t>
            </a:r>
          </a:p>
        </p:txBody>
      </p:sp>
      <p:pic>
        <p:nvPicPr>
          <p:cNvPr id="11" name="Picture 10" descr="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8615" y="6291072"/>
            <a:ext cx="1417320" cy="644979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9A9A9A"/>
                </a:solidFill>
                <a:latin typeface="Calibri"/>
              </a:rPr>
              <a:t>Dars 91/104  •  RW vaqt va chidamlilik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D02C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64008"/>
          </a:xfrm>
          <a:prstGeom prst="rect">
            <a:avLst/>
          </a:prstGeom>
          <a:solidFill>
            <a:srgbClr val="4342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«IT Shaharcha» — SAT Tayyorlov Dasturi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Calibri"/>
              </a:rPr>
              <a:t>Amaliyot va namunaviy misol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02C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D02C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D02C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2081967" y="0"/>
            <a:ext cx="109728" cy="6858000"/>
          </a:xfrm>
          <a:prstGeom prst="rect">
            <a:avLst/>
          </a:prstGeom>
          <a:solidFill>
            <a:srgbClr val="D02C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1188720"/>
            <a:ext cx="108813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D02C45"/>
                </a:solidFill>
                <a:latin typeface="Calibri"/>
              </a:rPr>
              <a:t>SAVOL: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1481328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 i="0">
                <a:solidFill>
                  <a:srgbClr val="2B2B2E"/>
                </a:solidFill>
                <a:latin typeface="Calibri"/>
              </a:rPr>
              <a:t>20-savolga kelganda, 10 daqiqa qoldi, lekin 7 savol bor (taxminan 85 soniya/savol kerak).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2331720"/>
            <a:ext cx="5212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D02C45"/>
                </a:solidFill>
                <a:latin typeface="Calibri"/>
              </a:rPr>
              <a:t>YECHIM QADAMLARI: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2651760"/>
            <a:ext cx="534924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300" b="1">
                <a:solidFill>
                  <a:srgbClr val="434242"/>
                </a:solidFill>
                <a:latin typeface="Calibri"/>
              </a:rPr>
              <a:t>●  </a:t>
            </a:r>
            <a:r>
              <a:rPr sz="1300" b="0">
                <a:solidFill>
                  <a:srgbClr val="2B2B2E"/>
                </a:solidFill>
                <a:latin typeface="Calibri"/>
              </a:rPr>
              <a:t>Vaqt hisobini tezda qilamiz: 10 daqiqa / 7 savol = ~85 soniya/savol, bu me'yorga yaqin.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300" b="1">
                <a:solidFill>
                  <a:srgbClr val="434242"/>
                </a:solidFill>
                <a:latin typeface="Calibri"/>
              </a:rPr>
              <a:t>●  </a:t>
            </a:r>
            <a:r>
              <a:rPr sz="1300" b="0">
                <a:solidFill>
                  <a:srgbClr val="2B2B2E"/>
                </a:solidFill>
                <a:latin typeface="Calibri"/>
              </a:rPr>
              <a:t>Tezlikni biroz oshirib, lekin diqqatni yo'qotmasdan davom etamiz.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300" b="1">
                <a:solidFill>
                  <a:srgbClr val="434242"/>
                </a:solidFill>
                <a:latin typeface="Calibri"/>
              </a:rPr>
              <a:t>●  </a:t>
            </a:r>
            <a:r>
              <a:rPr sz="1300" b="0">
                <a:solidFill>
                  <a:srgbClr val="2B2B2E"/>
                </a:solidFill>
                <a:latin typeface="Calibri"/>
              </a:rPr>
              <a:t>Agar bir savol qiyin chiqsa, darhol belgilab o'tib, qolganlarga ulguramiz.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55080" y="2331720"/>
            <a:ext cx="5257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D02C45"/>
                </a:solidFill>
                <a:latin typeface="Calibri"/>
              </a:rPr>
              <a:t>DARSDA AMALIYOT: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55080" y="2651760"/>
            <a:ext cx="534924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300" b="1">
                <a:solidFill>
                  <a:srgbClr val="434242"/>
                </a:solidFill>
                <a:latin typeface="Calibri"/>
              </a:rPr>
              <a:t>●  </a:t>
            </a:r>
            <a:r>
              <a:rPr sz="1300" b="0">
                <a:solidFill>
                  <a:srgbClr val="2B2B2E"/>
                </a:solidFill>
                <a:latin typeface="Calibri"/>
              </a:rPr>
              <a:t>Timed RW drill: 27 savol, 32 daqiqa, real modul sharoitida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300" b="1">
                <a:solidFill>
                  <a:srgbClr val="434242"/>
                </a:solidFill>
                <a:latin typeface="Calibri"/>
              </a:rPr>
              <a:t>●  </a:t>
            </a:r>
            <a:r>
              <a:rPr sz="1300" b="0">
                <a:solidFill>
                  <a:srgbClr val="2B2B2E"/>
                </a:solidFill>
                <a:latin typeface="Calibri"/>
              </a:rPr>
              <a:t>Har 9 savoldan keyin vaqtni tekshirish mashqi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300" b="1">
                <a:solidFill>
                  <a:srgbClr val="434242"/>
                </a:solidFill>
                <a:latin typeface="Calibri"/>
              </a:rPr>
              <a:t>●  </a:t>
            </a:r>
            <a:r>
              <a:rPr sz="1300" b="0">
                <a:solidFill>
                  <a:srgbClr val="2B2B2E"/>
                </a:solidFill>
                <a:latin typeface="Calibri"/>
              </a:rPr>
              <a:t>Charchoq boshqaruvi texnikalarini (nafas, sekin o'qish) amalda qo'llash</a:t>
            </a:r>
          </a:p>
        </p:txBody>
      </p:sp>
      <p:pic>
        <p:nvPicPr>
          <p:cNvPr id="16" name="Picture 15" descr="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8615" y="6291072"/>
            <a:ext cx="1417320" cy="644979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9A9A9A"/>
                </a:solidFill>
                <a:latin typeface="Calibri"/>
              </a:rPr>
              <a:t>Dars 91/104  •  RW vaqt va chidamlilik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D02C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64008"/>
          </a:xfrm>
          <a:prstGeom prst="rect">
            <a:avLst/>
          </a:prstGeom>
          <a:solidFill>
            <a:srgbClr val="4342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«IT Shaharcha» — SAT Tayyorlov Dasturi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Calibri"/>
              </a:rPr>
              <a:t>Xulosa va uy vazifasi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02C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D02C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D02C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2081967" y="0"/>
            <a:ext cx="109728" cy="6858000"/>
          </a:xfrm>
          <a:prstGeom prst="rect">
            <a:avLst/>
          </a:prstGeom>
          <a:solidFill>
            <a:srgbClr val="D02C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1234440"/>
            <a:ext cx="5120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D02C45"/>
                </a:solidFill>
                <a:latin typeface="Calibri"/>
              </a:rPr>
              <a:t>ASOSIY XULOSALAR: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1600200"/>
            <a:ext cx="52578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434242"/>
                </a:solidFill>
                <a:latin typeface="Calibri"/>
              </a:rPr>
              <a:t>●  </a:t>
            </a:r>
            <a:r>
              <a:rPr sz="1400" b="0">
                <a:solidFill>
                  <a:srgbClr val="2B2B2E"/>
                </a:solidFill>
                <a:latin typeface="Calibri"/>
              </a:rPr>
              <a:t>Barqaror tezlik — oxirida shoshilishdan ko'ra samaraliroq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434242"/>
                </a:solidFill>
                <a:latin typeface="Calibri"/>
              </a:rPr>
              <a:t>●  </a:t>
            </a:r>
            <a:r>
              <a:rPr sz="1400" b="0">
                <a:solidFill>
                  <a:srgbClr val="2B2B2E"/>
                </a:solidFill>
                <a:latin typeface="Calibri"/>
              </a:rPr>
              <a:t>Og'ir savolni vaqtida tashlab o'tish — muhim strategik ko'nikma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434242"/>
                </a:solidFill>
                <a:latin typeface="Calibri"/>
              </a:rPr>
              <a:t>●  </a:t>
            </a:r>
            <a:r>
              <a:rPr sz="1400" b="0">
                <a:solidFill>
                  <a:srgbClr val="2B2B2E"/>
                </a:solidFill>
                <a:latin typeface="Calibri"/>
              </a:rPr>
              <a:t>Charchoq paytida qoidaga tayanish — careless xatolarni kamaytiradi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63640" y="1234440"/>
            <a:ext cx="5212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D02C45"/>
                </a:solidFill>
                <a:latin typeface="Calibri"/>
              </a:rPr>
              <a:t>UY VAZIFASI: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63640" y="1600200"/>
            <a:ext cx="53492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434242"/>
                </a:solidFill>
                <a:latin typeface="Calibri"/>
              </a:rPr>
              <a:t>●  </a:t>
            </a:r>
            <a:r>
              <a:rPr sz="1400" b="0">
                <a:solidFill>
                  <a:srgbClr val="2B2B2E"/>
                </a:solidFill>
                <a:latin typeface="Calibri"/>
              </a:rPr>
              <a:t>Timed RW mashq: 27 savol (real sharoitda, mustaqil)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434242"/>
                </a:solidFill>
                <a:latin typeface="Calibri"/>
              </a:rPr>
              <a:t>●  </a:t>
            </a:r>
            <a:r>
              <a:rPr sz="1400" b="0">
                <a:solidFill>
                  <a:srgbClr val="2B2B2E"/>
                </a:solidFill>
                <a:latin typeface="Calibri"/>
              </a:rPr>
              <a:t>Natijani vaqt va aniqlik bo'yicha tahlil qilish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434242"/>
                </a:solidFill>
                <a:latin typeface="Calibri"/>
              </a:rPr>
              <a:t>●  </a:t>
            </a:r>
            <a:r>
              <a:rPr sz="1400" b="0">
                <a:solidFill>
                  <a:srgbClr val="2B2B2E"/>
                </a:solidFill>
                <a:latin typeface="Calibri"/>
              </a:rPr>
              <a:t>Charchoq sezilgan joylarni va ularga javobni yozib qo'yish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5989320"/>
            <a:ext cx="12191695" cy="86868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6144768"/>
            <a:ext cx="110642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666666"/>
                </a:solidFill>
                <a:latin typeface="Calibri"/>
              </a:rPr>
              <a:t>«IT Shaharcha» — Yoshlar Axborot Texnologiyalari Markazi</a:t>
            </a:r>
          </a:p>
        </p:txBody>
      </p:sp>
      <p:pic>
        <p:nvPicPr>
          <p:cNvPr id="16" name="Picture 15" descr="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00055" y="6080760"/>
            <a:ext cx="1280160" cy="58256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