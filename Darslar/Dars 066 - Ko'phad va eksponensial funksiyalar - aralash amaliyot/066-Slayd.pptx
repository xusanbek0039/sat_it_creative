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274320"/>
            <a:ext cx="2377440" cy="2377440"/>
          </a:xfrm>
          <a:prstGeom prst="ellipse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607040" y="1280160"/>
            <a:ext cx="1554480" cy="155448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03920" y="1737360"/>
            <a:ext cx="1188720" cy="11887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411480"/>
            <a:ext cx="2057400" cy="103591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1874519" cy="85303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2148840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7F2D83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8595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2B2B2E"/>
                </a:solidFill>
                <a:latin typeface="Calibri"/>
              </a:rPr>
              <a:t>DARS 66 / 104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971800"/>
            <a:ext cx="969264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2B2B2E"/>
                </a:solidFill>
                <a:latin typeface="Calibri"/>
              </a:rPr>
              <a:t>Ko'phad va eksponensial funksiyalar — aralash amaliyot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43484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7F2D83"/>
                </a:solidFill>
                <a:latin typeface="Calibri"/>
              </a:rPr>
              <a:t>22-hafta   •   2-bosqich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983480"/>
            <a:ext cx="2194560" cy="54864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5166360"/>
            <a:ext cx="9966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2B2B2E"/>
                </a:solidFill>
                <a:latin typeface="Calibri"/>
              </a:rPr>
              <a:t>Bu darsda siz ko'phad va eksponensial funksiyalarga oid bilimlarni aralash, vaqt bilan mashq qilib mustahkamlaysiz.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Dars maqsadi va reja — Ko'phad va eksponensial funksiyalar — aralash amaliyot</a:t>
            </a:r>
          </a:p>
        </p:txBody>
      </p:sp>
      <p:sp>
        <p:nvSpPr>
          <p:cNvPr id="6" name="Oval 5"/>
          <p:cNvSpPr/>
          <p:nvPr/>
        </p:nvSpPr>
        <p:spPr>
          <a:xfrm>
            <a:off x="11201400" y="5806440"/>
            <a:ext cx="914400" cy="914400"/>
          </a:xfrm>
          <a:prstGeom prst="ellipse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50040" y="6263640"/>
            <a:ext cx="502920" cy="502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51206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5B89"/>
                </a:solidFill>
                <a:latin typeface="Calibri"/>
              </a:rPr>
              <a:t>O'QUV NATIJASI: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7F2D83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Ko'phad va eksponensial savollarni tez tasniflaydi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7F2D83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Har ikki funksiya turiga mos strategiyani to'g'ri tanlaydi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7F2D83"/>
                </a:solidFill>
                <a:latin typeface="Calibri"/>
              </a:rPr>
              <a:t>●  </a:t>
            </a:r>
            <a:r>
              <a:rPr sz="1400" b="0">
                <a:solidFill>
                  <a:srgbClr val="333333"/>
                </a:solidFill>
                <a:latin typeface="Calibri"/>
              </a:rPr>
              <a:t>Aralash testda vaqtni samarali boshqaradi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234440"/>
            <a:ext cx="5212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5B89"/>
                </a:solidFill>
                <a:latin typeface="Calibri"/>
              </a:rPr>
              <a:t>DARS REJASI: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7F2D83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1. Savol turini tez tanish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7F2D83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2. Ko'phad strategiyalarini birlashtirish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7F2D83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3. Eksponensial strategiyalarni birlashtirish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350" b="1">
                <a:solidFill>
                  <a:srgbClr val="7F2D83"/>
                </a:solidFill>
                <a:latin typeface="Calibri"/>
              </a:rPr>
              <a:t>●  </a:t>
            </a:r>
            <a:r>
              <a:rPr sz="1350" b="0">
                <a:solidFill>
                  <a:srgbClr val="333333"/>
                </a:solidFill>
                <a:latin typeface="Calibri"/>
              </a:rPr>
              <a:t>4. Vaqtni boshqarish</a:t>
            </a:r>
          </a:p>
        </p:txBody>
      </p:sp>
      <p:pic>
        <p:nvPicPr>
          <p:cNvPr id="12" name="Picture 11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66/104  •  Ko'phad va eksponensial funksiyalar — aralash amaliyot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Savol turini tez tanish</a:t>
            </a:r>
          </a:p>
        </p:txBody>
      </p:sp>
      <p:sp>
        <p:nvSpPr>
          <p:cNvPr id="6" name="Oval 5"/>
          <p:cNvSpPr/>
          <p:nvPr/>
        </p:nvSpPr>
        <p:spPr>
          <a:xfrm>
            <a:off x="11201400" y="5806440"/>
            <a:ext cx="914400" cy="914400"/>
          </a:xfrm>
          <a:prstGeom prst="ellipse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50040" y="6263640"/>
            <a:ext cx="502920" cy="502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Ko'phad savollari odatda 'omil', 'qoldiq', 'daraja' so'zlari bilan, eksponensial savollar 'o'sish/kamayish', 'foiz' so'zlari bilan tanilishi mumkin.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Grafik berilgan bo'lsa, end behavior (ikki uchi qarama-qarshi/bir xil) — ko'phadga, asimptota borligi — eksponensialga ishora qiladi.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Savol turi tezda aniqlanishi — mos formulani/teoremani darhol eslab qolishga yordam beradi.</a:t>
            </a:r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66/104  •  Ko'phad va eksponensial funksiyalar — aralash amaliyot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Ko'phad strategiyalarini birlashtirish</a:t>
            </a:r>
          </a:p>
        </p:txBody>
      </p:sp>
      <p:sp>
        <p:nvSpPr>
          <p:cNvPr id="6" name="Oval 5"/>
          <p:cNvSpPr/>
          <p:nvPr/>
        </p:nvSpPr>
        <p:spPr>
          <a:xfrm>
            <a:off x="11201400" y="5806440"/>
            <a:ext cx="914400" cy="914400"/>
          </a:xfrm>
          <a:prstGeom prst="ellipse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50040" y="6263640"/>
            <a:ext cx="502920" cy="502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Omilga ajratish, Factor Theorem va sintetik bo'lish — ko'phad savollarida bir-birini to'ldiruvchi vositalar.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Murakkab ko'phad savollarida, avval oson omilni (masalan, umumiy ko'paytuvchi) chiqarib, keyin qolganini tahlil qilish.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Grafik berilgan ko'phad savollarida, ildizlar va ularning karraligidan foydalanib tezda javob topish mumkin.</a:t>
            </a:r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66/104  •  Ko'phad va eksponensial funksiyalar — aralash amaliyot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Eksponensial strategiyalarni birlashtirish</a:t>
            </a:r>
          </a:p>
        </p:txBody>
      </p:sp>
      <p:sp>
        <p:nvSpPr>
          <p:cNvPr id="6" name="Oval 5"/>
          <p:cNvSpPr/>
          <p:nvPr/>
        </p:nvSpPr>
        <p:spPr>
          <a:xfrm>
            <a:off x="11201400" y="5806440"/>
            <a:ext cx="914400" cy="914400"/>
          </a:xfrm>
          <a:prstGeom prst="ellipse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50040" y="6263640"/>
            <a:ext cx="502920" cy="502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Formula tuzish (a, b ni aniqlash), grafik tahlil va kontekstli masala yechish — eksponensial savollarning asosiy turlari.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Davr (period) bilan berilgan masalalarda daraja ko'rsatkichini to'g'ri formatlash muhim.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Eksponensial va chiziqli/kvadrat modellarni nisbat/farq orqali farqlash tezkor usul.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623560"/>
            <a:ext cx="1088136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5650992"/>
            <a:ext cx="10607040" cy="5120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1">
                <a:solidFill>
                  <a:srgbClr val="EB5B89"/>
                </a:solidFill>
                <a:latin typeface="Calibri"/>
              </a:rPr>
              <a:t>Eslatma: aralash testda har bir savolni avval TASNIFLAB, so'ng mos strategiyani qo'llash — tasodifiy urinishdan ko'ra ancha tezroq va aniqroq.</a:t>
            </a:r>
          </a:p>
        </p:txBody>
      </p:sp>
      <p:pic>
        <p:nvPicPr>
          <p:cNvPr id="11" name="Picture 10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66/104  •  Ko'phad va eksponensial funksiyalar — aralash amaliyot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Vaqtni boshqarish</a:t>
            </a:r>
          </a:p>
        </p:txBody>
      </p:sp>
      <p:sp>
        <p:nvSpPr>
          <p:cNvPr id="6" name="Oval 5"/>
          <p:cNvSpPr/>
          <p:nvPr/>
        </p:nvSpPr>
        <p:spPr>
          <a:xfrm>
            <a:off x="11201400" y="5806440"/>
            <a:ext cx="914400" cy="914400"/>
          </a:xfrm>
          <a:prstGeom prst="ellipse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50040" y="6263640"/>
            <a:ext cx="502920" cy="502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8813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Har savolga taxminan 80-90 soniya ajratib, agar formula darhol esga kelmasa, savolni belgilab o'tish kerak.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Oson tasniflanadigan savollarni (formula to'g'ridan-to'g'ri qo'llanadigan) birinchi navbatda yechish strategik.</a:t>
            </a:r>
          </a:p>
          <a:p>
            <a:pPr>
              <a:lnSpc>
                <a:spcPct val="112000"/>
              </a:lnSpc>
              <a:spcAft>
                <a:spcPts val="1100"/>
              </a:spcAft>
            </a:pPr>
            <a:r>
              <a:rPr sz="1550" b="1">
                <a:solidFill>
                  <a:srgbClr val="EB5B89"/>
                </a:solidFill>
                <a:latin typeface="Calibri"/>
              </a:rPr>
              <a:t>●  </a:t>
            </a:r>
            <a:r>
              <a:rPr sz="1550" b="0">
                <a:solidFill>
                  <a:srgbClr val="2B2B2E"/>
                </a:solidFill>
                <a:latin typeface="Calibri"/>
              </a:rPr>
              <a:t>Test oxirida belgilangan savollarga qaytib, qolgan vaqtni ulardagi eng katta og'irlikdagi savollarga sarflash kerak.</a:t>
            </a:r>
          </a:p>
        </p:txBody>
      </p:sp>
      <p:pic>
        <p:nvPicPr>
          <p:cNvPr id="9" name="Picture 8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66/104  •  Ko'phad va eksponensial funksiyalar — aralash amaliyot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Amaliyot va namunaviy misol</a:t>
            </a:r>
          </a:p>
        </p:txBody>
      </p:sp>
      <p:sp>
        <p:nvSpPr>
          <p:cNvPr id="6" name="Oval 5"/>
          <p:cNvSpPr/>
          <p:nvPr/>
        </p:nvSpPr>
        <p:spPr>
          <a:xfrm>
            <a:off x="11201400" y="5806440"/>
            <a:ext cx="914400" cy="914400"/>
          </a:xfrm>
          <a:prstGeom prst="ellipse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50040" y="6263640"/>
            <a:ext cx="502920" cy="502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10881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5B89"/>
                </a:solidFill>
                <a:latin typeface="Calibri"/>
              </a:rPr>
              <a:t>SAVOL: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481328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0" i="0">
                <a:solidFill>
                  <a:srgbClr val="2B2B2E"/>
                </a:solidFill>
                <a:latin typeface="Calibri"/>
              </a:rPr>
              <a:t>Aralash testda bir savol 'P(2) qoldiqni toping' deydi, ikkinchisi 'har 5 yilda ikki marta ko'payadi' deydi.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B5B89"/>
                </a:solidFill>
                <a:latin typeface="Calibri"/>
              </a:rPr>
              <a:t>YECHIM QADAMLARI: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7F2D83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Birinchi savolni ko'phad (Remainder Theorem) deb tasniflaymiz — to'g'ridan-to'g'ri P(2) ni hisoblaymiz.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7F2D83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Ikkinchi savolni eksponensial deb tasniflaymiz — davr=5 asosida t/5 daraja ko'rsatkichi quramiz.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7F2D83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Har ikkisini mos formula bilan tezda yechib, keyingi savolga o'tamiz.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2331720"/>
            <a:ext cx="5257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EB5B89"/>
                </a:solidFill>
                <a:latin typeface="Calibri"/>
              </a:rPr>
              <a:t>DARSDA AMALIYOT: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651760"/>
            <a:ext cx="53492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7F2D83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20 ta aralash ko'phad/eksponensial savolni vaqt bilan yechish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7F2D83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Har bir savol turini avval tezda tasniflash mashqi</a:t>
            </a:r>
          </a:p>
          <a:p>
            <a:pPr>
              <a:lnSpc>
                <a:spcPct val="112000"/>
              </a:lnSpc>
              <a:spcAft>
                <a:spcPts val="700"/>
              </a:spcAft>
            </a:pPr>
            <a:r>
              <a:rPr sz="1300" b="1">
                <a:solidFill>
                  <a:srgbClr val="7F2D83"/>
                </a:solidFill>
                <a:latin typeface="Calibri"/>
              </a:rPr>
              <a:t>●  </a:t>
            </a:r>
            <a:r>
              <a:rPr sz="1300" b="0">
                <a:solidFill>
                  <a:srgbClr val="2B2B2E"/>
                </a:solidFill>
                <a:latin typeface="Calibri"/>
              </a:rPr>
              <a:t>Xato qilingan savollarni alohida ajratib qayta ko'rib chiqish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8615" y="6291072"/>
            <a:ext cx="1417320" cy="64497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1">
                <a:solidFill>
                  <a:srgbClr val="9A9A9A"/>
                </a:solidFill>
                <a:latin typeface="Calibri"/>
              </a:rPr>
              <a:t>Dars 66/104  •  Ko'phad va eksponensial funksiyalar — aralash amaliyot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64008"/>
          </a:xfrm>
          <a:prstGeom prst="rect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"/>
            <a:ext cx="8229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«IT Shaharcha» — SAT Tayyorlov Dasturi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65760"/>
            <a:ext cx="106070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Xulosa va uy vazifasi</a:t>
            </a:r>
          </a:p>
        </p:txBody>
      </p:sp>
      <p:sp>
        <p:nvSpPr>
          <p:cNvPr id="6" name="Oval 5"/>
          <p:cNvSpPr/>
          <p:nvPr/>
        </p:nvSpPr>
        <p:spPr>
          <a:xfrm>
            <a:off x="11201400" y="5806440"/>
            <a:ext cx="914400" cy="914400"/>
          </a:xfrm>
          <a:prstGeom prst="ellipse">
            <a:avLst/>
          </a:prstGeom>
          <a:solidFill>
            <a:srgbClr val="EB5B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750040" y="6263640"/>
            <a:ext cx="502920" cy="502920"/>
          </a:xfrm>
          <a:prstGeom prst="ellipse">
            <a:avLst/>
          </a:prstGeom>
          <a:solidFill>
            <a:srgbClr val="7F2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5B89"/>
                </a:solidFill>
                <a:latin typeface="Calibri"/>
              </a:rPr>
              <a:t>ASOSIY XULOSALAR: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00200"/>
            <a:ext cx="52578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7F2D83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Savol turini tezda tasniflash — to'g'ri strategiyani tanlashning kaliti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7F2D83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Ko'phad va eksponensial — har biri o'z formula/teorema to'plamiga ega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7F2D83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Vaqtni boshqarish: oson savol avval, qiyini belgilab keyin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234440"/>
            <a:ext cx="5212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EB5B89"/>
                </a:solidFill>
                <a:latin typeface="Calibri"/>
              </a:rPr>
              <a:t>UY VAZIFASI: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600200"/>
            <a:ext cx="534924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7F2D83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25 ta aralash savolni mustaqil, vaqt bilan yechish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7F2D83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Xatolar tahlilini ko'phad va eksponensial bo'limlarga ajratib yozish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00" b="1">
                <a:solidFill>
                  <a:srgbClr val="7F2D83"/>
                </a:solidFill>
                <a:latin typeface="Calibri"/>
              </a:rPr>
              <a:t>●  </a:t>
            </a:r>
            <a:r>
              <a:rPr sz="1400" b="0">
                <a:solidFill>
                  <a:srgbClr val="2B2B2E"/>
                </a:solidFill>
                <a:latin typeface="Calibri"/>
              </a:rPr>
              <a:t>Zaif sub-mavzudan 10 qo'shimcha savol yechish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989320"/>
            <a:ext cx="12191695" cy="8686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6144768"/>
            <a:ext cx="110642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i="0">
                <a:solidFill>
                  <a:srgbClr val="666666"/>
                </a:solidFill>
                <a:latin typeface="Calibri"/>
              </a:rPr>
              <a:t>«IT Shaharcha» — Yoshlar Axborot Texnologiyalari Markazi</a:t>
            </a:r>
          </a:p>
        </p:txBody>
      </p:sp>
      <p:pic>
        <p:nvPicPr>
          <p:cNvPr id="14" name="Picture 13" descr="logo_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0055" y="6080760"/>
            <a:ext cx="1280160" cy="5825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