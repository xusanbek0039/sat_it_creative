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566160" cy="6858000"/>
          </a:xfrm>
          <a:prstGeom prst="rect">
            <a:avLst/>
          </a:prstGeom>
          <a:solidFill>
            <a:srgbClr val="1F7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566160" y="0"/>
            <a:ext cx="91440" cy="6858000"/>
          </a:xfrm>
          <a:prstGeom prst="rect">
            <a:avLst/>
          </a:prstGeom>
          <a:solidFill>
            <a:srgbClr val="57B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411480"/>
            <a:ext cx="2057400" cy="103591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02920"/>
            <a:ext cx="1874519" cy="8530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2148840"/>
            <a:ext cx="7863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57B5DC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14600"/>
            <a:ext cx="8595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B2B2E"/>
                </a:solidFill>
                <a:latin typeface="Calibri"/>
              </a:rPr>
              <a:t>DARS 22 / 104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71800"/>
            <a:ext cx="96926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2B2B2E"/>
                </a:solidFill>
                <a:latin typeface="Calibri"/>
              </a:rPr>
              <a:t>Words in Context — amaliyot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434840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57B5DC"/>
                </a:solidFill>
                <a:latin typeface="Calibri"/>
              </a:rPr>
              <a:t>6-hafta   •   1-bosqich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983480"/>
            <a:ext cx="2194560" cy="54864"/>
          </a:xfrm>
          <a:prstGeom prst="rect">
            <a:avLst/>
          </a:prstGeom>
          <a:solidFill>
            <a:srgbClr val="57B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5166360"/>
            <a:ext cx="99669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2B2B2E"/>
                </a:solidFill>
                <a:latin typeface="Calibri"/>
              </a:rPr>
              <a:t>Bu darsda qiyin va akademik so'zlar bilan ishlashni, yaqin variantlar orasidan tanlashni chuqur mashq qilasiz.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7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57B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Dars maqsadi va reja — Words in Context — amaliyot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1F7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57B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23444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7A68"/>
                </a:solidFill>
                <a:latin typeface="Calibri"/>
              </a:rPr>
              <a:t>O'QUV NATIJASI: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600200"/>
            <a:ext cx="5212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57B5DC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Qiyin/akademik so'zlar bilan ishonchli ishlaydi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57B5DC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Juda kuchli yoki chetga chiquvchi so'zlarni chetlatadi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57B5DC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Bir nechta yaqin variant orasidan eng to'g'risini tanlaydi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23444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7A68"/>
                </a:solidFill>
                <a:latin typeface="Calibri"/>
              </a:rPr>
              <a:t>DARS REJASI: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600200"/>
            <a:ext cx="5349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57B5DC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1. Qiyin/akademik so'zlar bilan ishlash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57B5DC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2. Juda kuchli yoki chetdagi so'zlarni chiqarish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57B5DC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3. Bir nechta yaqin variant orasidan tanlash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57B5DC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4. Tez-tez uchraydigan so'zlar</a:t>
            </a:r>
          </a:p>
        </p:txBody>
      </p:sp>
      <p:pic>
        <p:nvPicPr>
          <p:cNvPr id="12" name="Picture 11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22/104  •  Words in Context — amaliyot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7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57B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Qiyin/akademik so'zlar bilan ishlash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1F7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57B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1F7A68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Notanish so'z uchrasa, gapning umumiy mazmunidan ma'noni taxmin qilish mumkin (kontekstual taxmin).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1F7A68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So'zning lotincha/grekcha o'zaklarini (masalan, 'bene-' = yaxshi, 'mal-' = yomon) bilish yordam beradi.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1F7A68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Agar so'z umuman notanish bo'lsa, qolgan 3 variant orasida solishtirma usulda eng mosini tanlang.</a:t>
            </a:r>
          </a:p>
        </p:txBody>
      </p:sp>
      <p:pic>
        <p:nvPicPr>
          <p:cNvPr id="9" name="Picture 8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22/104  •  Words in Context — amaliyot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7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57B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Juda kuchli yoki chetdagi so'zlarni chiqarish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1F7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57B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1F7A68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SAT matnlari odatda muvozanatli ohangda yoziladi — haddan tashqari kuchli (ekstremal) so'zlar kamdan-kam to'g'ri bo'ladi.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1F7A68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Masalan, 'yoqtirmaslik' o'rniga 'nafratlanish' kabi haddan tashqari kuchli so'z odatda noto'g'ri.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1F7A68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Gapning umumiy ohangi neytral/muvozanatli bo'lsa, ekstremal so'zlarni birinchi navbatda chetlating.</a:t>
            </a:r>
          </a:p>
        </p:txBody>
      </p:sp>
      <p:pic>
        <p:nvPicPr>
          <p:cNvPr id="9" name="Picture 8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22/104  •  Words in Context — amaliyot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7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57B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Bir nechta yaqin variant orasidan tanlash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1F7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57B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1F7A68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Ko'p hollarda 2 variant juda yaqin ma'noli bo'ladi — ularning nozik farqiga e'tibor bering (ohang, kuch darajasi, rasmiy/norasmiy).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1F7A68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Gapni har ikki variant bilan o'qing va qaysi biri TABIIY eshitilishini tekshiring.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1F7A68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Variantlarning grammatik shakli (fe'l/sifat/ot) gapga mos kelishini ham tekshiring.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5623560"/>
            <a:ext cx="10881360" cy="566928"/>
          </a:xfrm>
          <a:prstGeom prst="rect">
            <a:avLst/>
          </a:prstGeom>
          <a:solidFill>
            <a:srgbClr val="E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39" y="5650992"/>
            <a:ext cx="106070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1">
                <a:solidFill>
                  <a:srgbClr val="1F7A68"/>
                </a:solidFill>
                <a:latin typeface="Calibri"/>
              </a:rPr>
              <a:t>Maslahat: ikki yaqin variant orasida qolsangiz, gapdagi ENG kuchli kontekst signalini (bog'lovchi so'z yoki ohang) qayta tahlil qiling.</a:t>
            </a:r>
          </a:p>
        </p:txBody>
      </p:sp>
      <p:pic>
        <p:nvPicPr>
          <p:cNvPr id="11" name="Picture 10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22/104  •  Words in Context — amaliyot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7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57B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Tez-tez uchraydigan so'zlar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1F7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57B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1F7A68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SAT'da bir necha o'nlab so'zlar takror-takror uchraydi (masalan: 'mitigate', 'ambiguous', 'underscore', 'pragmatic').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1F7A68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Bu so'zlarning kontekstual ma'nolarini oldindan o'rganib qo'yish vaqtni tejaydi.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1F7A68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Har bir yangi uchragan so'zni shaxsiy lug'at daftariga (kontekst bilan birga) yozib borish tavsiya etiladi.</a:t>
            </a:r>
          </a:p>
        </p:txBody>
      </p:sp>
      <p:pic>
        <p:nvPicPr>
          <p:cNvPr id="9" name="Picture 8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22/104  •  Words in Context — amaliyot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7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57B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Amaliyot va namunaviy misol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1F7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57B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18872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7A68"/>
                </a:solidFill>
                <a:latin typeface="Calibri"/>
              </a:rPr>
              <a:t>SAVOL: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4813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B2B2E"/>
                </a:solidFill>
                <a:latin typeface="Calibri"/>
              </a:rPr>
              <a:t>Gap: 'Olimning xulosalari boshqa tadqiqotchilar tomonidan ___ qilindi, chunki ular yetarli dalilga asoslanmagan edi.' Variantlar: 'tasdiqlandi' va 'tanqid qilindi'.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33172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F7A68"/>
                </a:solidFill>
                <a:latin typeface="Calibri"/>
              </a:rPr>
              <a:t>YECHIM QADAMLARI: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651760"/>
            <a:ext cx="5349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57B5DC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Gap sababini o'qiymiz: 'yetarli dalilga asoslanmagan' — bu salbiy baho.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57B5DC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Demak, bo'sh joy ham salbiy ma'noli so'z talab qiladi.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57B5DC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To'g'ri javob — 'tanqid qilindi', 'tasdiqlandi' emas (ohangga zid).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331720"/>
            <a:ext cx="5257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F7A68"/>
                </a:solidFill>
                <a:latin typeface="Calibri"/>
              </a:rPr>
              <a:t>DARSDA AMALIYOT: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651760"/>
            <a:ext cx="5349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57B5DC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15 ta savolni vaqt bilan (timed) yechish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57B5DC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Notanish so'zlarni kontekstdan taxmin qilish mashqi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57B5DC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Yaqin variantlar orasidan tanlash bo'yicha guruh muhokamasi</a:t>
            </a:r>
          </a:p>
        </p:txBody>
      </p:sp>
      <p:pic>
        <p:nvPicPr>
          <p:cNvPr id="14" name="Picture 13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22/104  •  Words in Context — amaliyot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7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57B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Xulosa va uy vazifasi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1F7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57B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234440"/>
            <a:ext cx="5120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7A68"/>
                </a:solidFill>
                <a:latin typeface="Calibri"/>
              </a:rPr>
              <a:t>ASOSIY XULOSALAR: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600200"/>
            <a:ext cx="5257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57B5DC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Notanish so'zni kontekst va so'z o'zagidan taxmin qilish mumkin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57B5DC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Ekstremal/kuchli so'zlar ko'pincha noto'g'ri variant bo'ladi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57B5DC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Yaqin variantlarda ohang va grammatik mosligi hal qiluvchi omil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23444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7A68"/>
                </a:solidFill>
                <a:latin typeface="Calibri"/>
              </a:rPr>
              <a:t>UY VAZIFASI: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600200"/>
            <a:ext cx="5349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57B5DC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20 ta savol, 50 so'zlik shaxsiy lug'at ro'yxati bilan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57B5DC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Har bir notanish so'zni kontekst bilan birga yozib qo'yish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57B5DC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Eng ko'p uchragan akademik so'zlardan 10 tasini yodlash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6144768"/>
            <a:ext cx="110642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66666"/>
                </a:solidFill>
                <a:latin typeface="Calibri"/>
              </a:rPr>
              <a:t>«IT Shaharcha» — Yoshlar Axborot Texnologiyalari Markazi</a:t>
            </a:r>
          </a:p>
        </p:txBody>
      </p:sp>
      <p:pic>
        <p:nvPicPr>
          <p:cNvPr id="14" name="Picture 13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6080760"/>
            <a:ext cx="1280160" cy="58256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