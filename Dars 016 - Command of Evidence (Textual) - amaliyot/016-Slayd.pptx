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Isosceles Triangle 1"/>
          <p:cNvSpPr/>
          <p:nvPr/>
        </p:nvSpPr>
        <p:spPr>
          <a:xfrm rot="7500000">
            <a:off x="8778240" y="4297680"/>
            <a:ext cx="4754880" cy="4206240"/>
          </a:xfrm>
          <a:prstGeom prst="triangle">
            <a:avLst/>
          </a:prstGeom>
          <a:solidFill>
            <a:srgbClr val="E732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 rot="7500000">
            <a:off x="10058400" y="5120640"/>
            <a:ext cx="2926080" cy="2560320"/>
          </a:xfrm>
          <a:prstGeom prst="triangle">
            <a:avLst/>
          </a:prstGeom>
          <a:solidFill>
            <a:srgbClr val="D144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411480"/>
            <a:ext cx="2057400" cy="1035916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502920"/>
            <a:ext cx="1874519" cy="85303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94360" y="2148840"/>
            <a:ext cx="7863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D14427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514600"/>
            <a:ext cx="85953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2B2B2E"/>
                </a:solidFill>
                <a:latin typeface="Calibri"/>
              </a:rPr>
              <a:t>DARS 16 / 104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971800"/>
            <a:ext cx="969264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2B2B2E"/>
                </a:solidFill>
                <a:latin typeface="Calibri"/>
              </a:rPr>
              <a:t>Command of Evidence (Textual) — amaliyot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434840"/>
            <a:ext cx="9875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D14427"/>
                </a:solidFill>
                <a:latin typeface="Calibri"/>
              </a:rPr>
              <a:t>4-hafta   •   1-bosqich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4983480"/>
            <a:ext cx="2194560" cy="54864"/>
          </a:xfrm>
          <a:prstGeom prst="rect">
            <a:avLst/>
          </a:prstGeom>
          <a:solidFill>
            <a:srgbClr val="D144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5166360"/>
            <a:ext cx="996696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2B2B2E"/>
                </a:solidFill>
                <a:latin typeface="Calibri"/>
              </a:rPr>
              <a:t>Bu darsda murakkablashtirilgan da'vo-dalil savollarini, ayniqsa yaqin lekin noto'g'ri variantlar ko'p bo'lgan holatlarni mashq qilasiz.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732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D144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Dars maqsadi va reja — Command of Evidence (Textual) — amaliyot</a:t>
            </a:r>
          </a:p>
        </p:txBody>
      </p:sp>
      <p:sp>
        <p:nvSpPr>
          <p:cNvPr id="6" name="Isosceles Triangle 5"/>
          <p:cNvSpPr/>
          <p:nvPr/>
        </p:nvSpPr>
        <p:spPr>
          <a:xfrm rot="7500000">
            <a:off x="11064240" y="5806440"/>
            <a:ext cx="1463040" cy="1325880"/>
          </a:xfrm>
          <a:prstGeom prst="triangle">
            <a:avLst/>
          </a:prstGeom>
          <a:solidFill>
            <a:srgbClr val="E732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234440"/>
            <a:ext cx="5120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E7325F"/>
                </a:solidFill>
                <a:latin typeface="Calibri"/>
              </a:rPr>
              <a:t>O'QUV NATIJASI: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600200"/>
            <a:ext cx="52120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D14427"/>
                </a:solidFill>
                <a:latin typeface="Calibri"/>
              </a:rPr>
              <a:t>●  </a:t>
            </a:r>
            <a:r>
              <a:rPr sz="1400" b="0">
                <a:solidFill>
                  <a:srgbClr val="333333"/>
                </a:solidFill>
                <a:latin typeface="Calibri"/>
              </a:rPr>
              <a:t>Murakkab, ko'p qatlamli da'volar bilan ishlay oladi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D14427"/>
                </a:solidFill>
                <a:latin typeface="Calibri"/>
              </a:rPr>
              <a:t>●  </a:t>
            </a:r>
            <a:r>
              <a:rPr sz="1400" b="0">
                <a:solidFill>
                  <a:srgbClr val="333333"/>
                </a:solidFill>
                <a:latin typeface="Calibri"/>
              </a:rPr>
              <a:t>Yaqin lekin noto'g'ri dalillarni aniq farqlay oladi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D14427"/>
                </a:solidFill>
                <a:latin typeface="Calibri"/>
              </a:rPr>
              <a:t>●  </a:t>
            </a:r>
            <a:r>
              <a:rPr sz="1400" b="0">
                <a:solidFill>
                  <a:srgbClr val="333333"/>
                </a:solidFill>
                <a:latin typeface="Calibri"/>
              </a:rPr>
              <a:t>Dalil savollarini vaqt bosimida aniq yechadi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63640" y="1234440"/>
            <a:ext cx="5212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E7325F"/>
                </a:solidFill>
                <a:latin typeface="Calibri"/>
              </a:rPr>
              <a:t>DARS REJASI: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63640" y="1600200"/>
            <a:ext cx="53492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350" b="1">
                <a:solidFill>
                  <a:srgbClr val="D14427"/>
                </a:solidFill>
                <a:latin typeface="Calibri"/>
              </a:rPr>
              <a:t>●  </a:t>
            </a:r>
            <a:r>
              <a:rPr sz="1350" b="0">
                <a:solidFill>
                  <a:srgbClr val="333333"/>
                </a:solidFill>
                <a:latin typeface="Calibri"/>
              </a:rPr>
              <a:t>1. Murakkab da'volar bilan ishlash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350" b="1">
                <a:solidFill>
                  <a:srgbClr val="D14427"/>
                </a:solidFill>
                <a:latin typeface="Calibri"/>
              </a:rPr>
              <a:t>●  </a:t>
            </a:r>
            <a:r>
              <a:rPr sz="1350" b="0">
                <a:solidFill>
                  <a:srgbClr val="333333"/>
                </a:solidFill>
                <a:latin typeface="Calibri"/>
              </a:rPr>
              <a:t>2. Yaqin lekin noto'g'ri dalillar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350" b="1">
                <a:solidFill>
                  <a:srgbClr val="D14427"/>
                </a:solidFill>
                <a:latin typeface="Calibri"/>
              </a:rPr>
              <a:t>●  </a:t>
            </a:r>
            <a:r>
              <a:rPr sz="1350" b="0">
                <a:solidFill>
                  <a:srgbClr val="333333"/>
                </a:solidFill>
                <a:latin typeface="Calibri"/>
              </a:rPr>
              <a:t>3. Bir nechta gap orasidan tanlash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350" b="1">
                <a:solidFill>
                  <a:srgbClr val="D14427"/>
                </a:solidFill>
                <a:latin typeface="Calibri"/>
              </a:rPr>
              <a:t>●  </a:t>
            </a:r>
            <a:r>
              <a:rPr sz="1350" b="0">
                <a:solidFill>
                  <a:srgbClr val="333333"/>
                </a:solidFill>
                <a:latin typeface="Calibri"/>
              </a:rPr>
              <a:t>4. Tuzoq javoblarni aniqlash</a:t>
            </a:r>
          </a:p>
        </p:txBody>
      </p:sp>
      <p:pic>
        <p:nvPicPr>
          <p:cNvPr id="11" name="Picture 10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8615" y="6291072"/>
            <a:ext cx="1417320" cy="644979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9A9A9A"/>
                </a:solidFill>
                <a:latin typeface="Calibri"/>
              </a:rPr>
              <a:t>Dars 16/104  •  Command of Evidence (Textual) — amaliyot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732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D144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Murakkab da'volar bilan ishlash</a:t>
            </a:r>
          </a:p>
        </p:txBody>
      </p:sp>
      <p:sp>
        <p:nvSpPr>
          <p:cNvPr id="6" name="Isosceles Triangle 5"/>
          <p:cNvSpPr/>
          <p:nvPr/>
        </p:nvSpPr>
        <p:spPr>
          <a:xfrm rot="7500000">
            <a:off x="11064240" y="5806440"/>
            <a:ext cx="1463040" cy="1325880"/>
          </a:xfrm>
          <a:prstGeom prst="triangle">
            <a:avLst/>
          </a:prstGeom>
          <a:solidFill>
            <a:srgbClr val="E732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23444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E7325F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Ba'zi da'volar ikki qismdan iborat bo'ladi (masalan, 'X sabab Y natijaga olib keldi') — dalil HAR IKKI qismni tasdiqlashi kerak.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E7325F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Da'voni mantiqiy qismlarga bo'lib o'qish (sabab / natija, sharti / xulosa) tushunishni osonlashtiradi.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E7325F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Agar da'vo shartli bo'lsa ('agar... bo'lsa'), dalil ham shu shartni aks ettirishi kerak.</a:t>
            </a:r>
          </a:p>
        </p:txBody>
      </p:sp>
      <p:pic>
        <p:nvPicPr>
          <p:cNvPr id="8" name="Picture 7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8615" y="6291072"/>
            <a:ext cx="1417320" cy="64497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9A9A9A"/>
                </a:solidFill>
                <a:latin typeface="Calibri"/>
              </a:rPr>
              <a:t>Dars 16/104  •  Command of Evidence (Textual) — amaliyot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732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D144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Yaqin lekin noto'g'ri dalillar</a:t>
            </a:r>
          </a:p>
        </p:txBody>
      </p:sp>
      <p:sp>
        <p:nvSpPr>
          <p:cNvPr id="6" name="Isosceles Triangle 5"/>
          <p:cNvSpPr/>
          <p:nvPr/>
        </p:nvSpPr>
        <p:spPr>
          <a:xfrm rot="7500000">
            <a:off x="11064240" y="5806440"/>
            <a:ext cx="1463040" cy="1325880"/>
          </a:xfrm>
          <a:prstGeom prst="triangle">
            <a:avLst/>
          </a:prstGeom>
          <a:solidFill>
            <a:srgbClr val="E732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23444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E7325F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Ba'zi variantlar da'voning MAVZUSIGA tegishli, lekin aynan da'voni isbotlamaydi — bu eng keng tarqalgan tuzoq.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E7325F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Variant da'voga zid bo'lgan yoki uni qisman inkor qiluvchi ma'lumot bersa — bu darhol chetlatiladi.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E7325F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Variant umuman boshqa shaxsga/voqeaga tegishli ma'lumot bersa, hatto mavzu o'xshash bo'lsa ham — noto'g'ri.</a:t>
            </a:r>
          </a:p>
        </p:txBody>
      </p:sp>
      <p:pic>
        <p:nvPicPr>
          <p:cNvPr id="8" name="Picture 7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8615" y="6291072"/>
            <a:ext cx="1417320" cy="64497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9A9A9A"/>
                </a:solidFill>
                <a:latin typeface="Calibri"/>
              </a:rPr>
              <a:t>Dars 16/104  •  Command of Evidence (Textual) — amaliyot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732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D144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Bir nechta gap orasidan tanlash</a:t>
            </a:r>
          </a:p>
        </p:txBody>
      </p:sp>
      <p:sp>
        <p:nvSpPr>
          <p:cNvPr id="6" name="Isosceles Triangle 5"/>
          <p:cNvSpPr/>
          <p:nvPr/>
        </p:nvSpPr>
        <p:spPr>
          <a:xfrm rot="7500000">
            <a:off x="11064240" y="5806440"/>
            <a:ext cx="1463040" cy="1325880"/>
          </a:xfrm>
          <a:prstGeom prst="triangle">
            <a:avLst/>
          </a:prstGeom>
          <a:solidFill>
            <a:srgbClr val="E732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23444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E7325F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Ba'zan 4 variantning 2–3 tasi qisman to'g'ri tuyuladi — bunda ENG TO'LIQ va ANIQ moslikni tanlang.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E7325F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'Eng yaxshisini tanlash' strategiyasi: har bir variantni 1–10 ball bilan 'da'voga moslik' nuqtai nazaridan baholang (zihnan).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E7325F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Eng yuqori 'mos kelish' ballini olgan variant — to'g'ri javob.</a:t>
            </a:r>
          </a:p>
        </p:txBody>
      </p:sp>
      <p:pic>
        <p:nvPicPr>
          <p:cNvPr id="8" name="Picture 7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8615" y="6291072"/>
            <a:ext cx="1417320" cy="64497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9A9A9A"/>
                </a:solidFill>
                <a:latin typeface="Calibri"/>
              </a:rPr>
              <a:t>Dars 16/104  •  Command of Evidence (Textual) — amaliyot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732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D144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Tuzoq javoblarni aniqlash</a:t>
            </a:r>
          </a:p>
        </p:txBody>
      </p:sp>
      <p:sp>
        <p:nvSpPr>
          <p:cNvPr id="6" name="Isosceles Triangle 5"/>
          <p:cNvSpPr/>
          <p:nvPr/>
        </p:nvSpPr>
        <p:spPr>
          <a:xfrm rot="7500000">
            <a:off x="11064240" y="5806440"/>
            <a:ext cx="1463040" cy="1325880"/>
          </a:xfrm>
          <a:prstGeom prst="triangle">
            <a:avLst/>
          </a:prstGeom>
          <a:solidFill>
            <a:srgbClr val="E732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23444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E7325F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Tuzoq odatda da'voda ishlatilgan so'zlarni TAKRORLAYDI, lekin boshqa ma'noda ishlatadi.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E7325F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Tuzoq ba'zan statistik ma'lumotni keltiradi, lekin u boshqa narsani o'lchaydi (masalan, foiz o'rniga umumiy son).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E7325F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Doim o'zingizdan so'rang: 'Bu gap MENI bu da'voga ishontiradimi, yoki shunchaki shu mavzu haqida gapiradimi?'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5623560"/>
            <a:ext cx="10881360" cy="566928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5650992"/>
            <a:ext cx="1060704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1">
                <a:solidFill>
                  <a:srgbClr val="E7325F"/>
                </a:solidFill>
                <a:latin typeface="Calibri"/>
              </a:rPr>
              <a:t>Yodda tutish kerak: SAT'da tuzoqlar tasodifiy emas — ular aynan eng tez-tez yo'l qo'yiladigan xato turlariga mos qurilgan.</a:t>
            </a:r>
          </a:p>
        </p:txBody>
      </p:sp>
      <p:pic>
        <p:nvPicPr>
          <p:cNvPr id="10" name="Picture 9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8615" y="6291072"/>
            <a:ext cx="1417320" cy="644979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9A9A9A"/>
                </a:solidFill>
                <a:latin typeface="Calibri"/>
              </a:rPr>
              <a:t>Dars 16/104  •  Command of Evidence (Textual) — amaliyot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732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D144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Amaliyot va namunaviy misol</a:t>
            </a:r>
          </a:p>
        </p:txBody>
      </p:sp>
      <p:sp>
        <p:nvSpPr>
          <p:cNvPr id="6" name="Isosceles Triangle 5"/>
          <p:cNvSpPr/>
          <p:nvPr/>
        </p:nvSpPr>
        <p:spPr>
          <a:xfrm rot="7500000">
            <a:off x="11064240" y="5806440"/>
            <a:ext cx="1463040" cy="1325880"/>
          </a:xfrm>
          <a:prstGeom prst="triangle">
            <a:avLst/>
          </a:prstGeom>
          <a:solidFill>
            <a:srgbClr val="E732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188720"/>
            <a:ext cx="108813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E7325F"/>
                </a:solidFill>
                <a:latin typeface="Calibri"/>
              </a:rPr>
              <a:t>SAVOL: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481328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2B2B2E"/>
                </a:solidFill>
                <a:latin typeface="Calibri"/>
              </a:rPr>
              <a:t>Da'vo: 'Yangi siyosat kichik bizneslarga ko'proq foyda keltirdi, ammo katta korporatsiyalarga ta'sir qilmadi.' Bir variant faqat kichik bizneslar haqida gapiradi, ikkinchi xato qism haqida sukut saqlaydi.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331720"/>
            <a:ext cx="5212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E7325F"/>
                </a:solidFill>
                <a:latin typeface="Calibri"/>
              </a:rPr>
              <a:t>YECHIM QADAMLARI: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651760"/>
            <a:ext cx="53492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00" b="1">
                <a:solidFill>
                  <a:srgbClr val="D14427"/>
                </a:solidFill>
                <a:latin typeface="Calibri"/>
              </a:rPr>
              <a:t>●  </a:t>
            </a:r>
            <a:r>
              <a:rPr sz="1300" b="0">
                <a:solidFill>
                  <a:srgbClr val="2B2B2E"/>
                </a:solidFill>
                <a:latin typeface="Calibri"/>
              </a:rPr>
              <a:t>Da'vo ikki qismli: (1) kichik biznesga foyda, (2) katta korporatsiyaga ta'sir yo'q.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00" b="1">
                <a:solidFill>
                  <a:srgbClr val="D14427"/>
                </a:solidFill>
                <a:latin typeface="Calibri"/>
              </a:rPr>
              <a:t>●  </a:t>
            </a:r>
            <a:r>
              <a:rPr sz="1300" b="0">
                <a:solidFill>
                  <a:srgbClr val="2B2B2E"/>
                </a:solidFill>
                <a:latin typeface="Calibri"/>
              </a:rPr>
              <a:t>Faqat birinchi qismni tasdiqlovchi variant — to'liq emas, chunki ikkinchi qism tasdiqlanmagan.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00" b="1">
                <a:solidFill>
                  <a:srgbClr val="D14427"/>
                </a:solidFill>
                <a:latin typeface="Calibri"/>
              </a:rPr>
              <a:t>●  </a:t>
            </a:r>
            <a:r>
              <a:rPr sz="1300" b="0">
                <a:solidFill>
                  <a:srgbClr val="2B2B2E"/>
                </a:solidFill>
                <a:latin typeface="Calibri"/>
              </a:rPr>
              <a:t>To'g'ri javob ikkala qismni ham qamrab oluvchi yoki ikkinchi qismni aniq tasdiqlovchi gap bo'lishi kerak.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2331720"/>
            <a:ext cx="5257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E7325F"/>
                </a:solidFill>
                <a:latin typeface="Calibri"/>
              </a:rPr>
              <a:t>DARSDA AMALIYOT: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5080" y="2651760"/>
            <a:ext cx="53492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00" b="1">
                <a:solidFill>
                  <a:srgbClr val="D14427"/>
                </a:solidFill>
                <a:latin typeface="Calibri"/>
              </a:rPr>
              <a:t>●  </a:t>
            </a:r>
            <a:r>
              <a:rPr sz="1300" b="0">
                <a:solidFill>
                  <a:srgbClr val="2B2B2E"/>
                </a:solidFill>
                <a:latin typeface="Calibri"/>
              </a:rPr>
              <a:t>15 ta murakkab Command of Evidence savolini vaqt bilan yechish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00" b="1">
                <a:solidFill>
                  <a:srgbClr val="D14427"/>
                </a:solidFill>
                <a:latin typeface="Calibri"/>
              </a:rPr>
              <a:t>●  </a:t>
            </a:r>
            <a:r>
              <a:rPr sz="1300" b="0">
                <a:solidFill>
                  <a:srgbClr val="2B2B2E"/>
                </a:solidFill>
                <a:latin typeface="Calibri"/>
              </a:rPr>
              <a:t>Har bir tuzoq variantni nima uchun noto'g'ri ekanini ovoz chiqarib tushuntirish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00" b="1">
                <a:solidFill>
                  <a:srgbClr val="D14427"/>
                </a:solidFill>
                <a:latin typeface="Calibri"/>
              </a:rPr>
              <a:t>●  </a:t>
            </a:r>
            <a:r>
              <a:rPr sz="1300" b="0">
                <a:solidFill>
                  <a:srgbClr val="2B2B2E"/>
                </a:solidFill>
                <a:latin typeface="Calibri"/>
              </a:rPr>
              <a:t>Ikki qismli da'volarni mantiqiy qismlarga bo'lib tahlil qilish</a:t>
            </a:r>
          </a:p>
        </p:txBody>
      </p:sp>
      <p:pic>
        <p:nvPicPr>
          <p:cNvPr id="13" name="Picture 12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8615" y="6291072"/>
            <a:ext cx="1417320" cy="644979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9A9A9A"/>
                </a:solidFill>
                <a:latin typeface="Calibri"/>
              </a:rPr>
              <a:t>Dars 16/104  •  Command of Evidence (Textual) — amaliyot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732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D144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Xulosa va uy vazifasi</a:t>
            </a:r>
          </a:p>
        </p:txBody>
      </p:sp>
      <p:sp>
        <p:nvSpPr>
          <p:cNvPr id="6" name="Isosceles Triangle 5"/>
          <p:cNvSpPr/>
          <p:nvPr/>
        </p:nvSpPr>
        <p:spPr>
          <a:xfrm rot="7500000">
            <a:off x="11064240" y="5806440"/>
            <a:ext cx="1463040" cy="1325880"/>
          </a:xfrm>
          <a:prstGeom prst="triangle">
            <a:avLst/>
          </a:prstGeom>
          <a:solidFill>
            <a:srgbClr val="E732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234440"/>
            <a:ext cx="5120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E7325F"/>
                </a:solidFill>
                <a:latin typeface="Calibri"/>
              </a:rPr>
              <a:t>ASOSIY XULOSALAR: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600200"/>
            <a:ext cx="52578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D14427"/>
                </a:solidFill>
                <a:latin typeface="Calibri"/>
              </a:rPr>
              <a:t>●  </a:t>
            </a:r>
            <a:r>
              <a:rPr sz="1400" b="0">
                <a:solidFill>
                  <a:srgbClr val="2B2B2E"/>
                </a:solidFill>
                <a:latin typeface="Calibri"/>
              </a:rPr>
              <a:t>Ko'p qismli da'volarda dalil BARCHA qismlarni qamrab olishi shart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D14427"/>
                </a:solidFill>
                <a:latin typeface="Calibri"/>
              </a:rPr>
              <a:t>●  </a:t>
            </a:r>
            <a:r>
              <a:rPr sz="1400" b="0">
                <a:solidFill>
                  <a:srgbClr val="2B2B2E"/>
                </a:solidFill>
                <a:latin typeface="Calibri"/>
              </a:rPr>
              <a:t>Tuzoqlar mavzu so'zlarini takrorlaydi, lekin ma'noni o'zgartiradi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D14427"/>
                </a:solidFill>
                <a:latin typeface="Calibri"/>
              </a:rPr>
              <a:t>●  </a:t>
            </a:r>
            <a:r>
              <a:rPr sz="1400" b="0">
                <a:solidFill>
                  <a:srgbClr val="2B2B2E"/>
                </a:solidFill>
                <a:latin typeface="Calibri"/>
              </a:rPr>
              <a:t>Har doim 'eng to'liq moslik' tamoyili bilan tanlov qiling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63640" y="1234440"/>
            <a:ext cx="5212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E7325F"/>
                </a:solidFill>
                <a:latin typeface="Calibri"/>
              </a:rPr>
              <a:t>UY VAZIFASI: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63640" y="1600200"/>
            <a:ext cx="53492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D14427"/>
                </a:solidFill>
                <a:latin typeface="Calibri"/>
              </a:rPr>
              <a:t>●  </a:t>
            </a:r>
            <a:r>
              <a:rPr sz="1400" b="0">
                <a:solidFill>
                  <a:srgbClr val="2B2B2E"/>
                </a:solidFill>
                <a:latin typeface="Calibri"/>
              </a:rPr>
              <a:t>20 ta savol, alohida ikki qismli da'volarga e'tibor qaratish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D14427"/>
                </a:solidFill>
                <a:latin typeface="Calibri"/>
              </a:rPr>
              <a:t>●  </a:t>
            </a:r>
            <a:r>
              <a:rPr sz="1400" b="0">
                <a:solidFill>
                  <a:srgbClr val="2B2B2E"/>
                </a:solidFill>
                <a:latin typeface="Calibri"/>
              </a:rPr>
              <a:t>Har bir noto'g'ri variantni 'tuzoq turi' bo'yicha yozib chiqish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D14427"/>
                </a:solidFill>
                <a:latin typeface="Calibri"/>
              </a:rPr>
              <a:t>●  </a:t>
            </a:r>
            <a:r>
              <a:rPr sz="1400" b="0">
                <a:solidFill>
                  <a:srgbClr val="2B2B2E"/>
                </a:solidFill>
                <a:latin typeface="Calibri"/>
              </a:rPr>
              <a:t>Eng tez-tez uchragan tuzoq turini ajratib ko'rsatish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5989320"/>
            <a:ext cx="12191695" cy="86868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6144768"/>
            <a:ext cx="110642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666666"/>
                </a:solidFill>
                <a:latin typeface="Calibri"/>
              </a:rPr>
              <a:t>«IT Shaharcha» — Yoshlar Axborot Texnologiyalari Markazi</a:t>
            </a:r>
          </a:p>
        </p:txBody>
      </p:sp>
      <p:pic>
        <p:nvPicPr>
          <p:cNvPr id="13" name="Picture 12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00055" y="6080760"/>
            <a:ext cx="1280160" cy="58256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